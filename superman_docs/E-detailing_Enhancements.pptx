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7" r:id="rId2"/>
    <p:sldId id="260" r:id="rId3"/>
    <p:sldId id="259" r:id="rId4"/>
    <p:sldId id="261" r:id="rId5"/>
    <p:sldId id="265" r:id="rId6"/>
    <p:sldId id="266" r:id="rId7"/>
    <p:sldId id="263" r:id="rId8"/>
    <p:sldId id="264" r:id="rId9"/>
    <p:sldId id="267" r:id="rId10"/>
    <p:sldId id="268" r:id="rId11"/>
    <p:sldId id="256" r:id="rId12"/>
    <p:sldId id="275" r:id="rId13"/>
    <p:sldId id="269" r:id="rId14"/>
    <p:sldId id="270" r:id="rId15"/>
    <p:sldId id="271" r:id="rId16"/>
    <p:sldId id="272" r:id="rId17"/>
    <p:sldId id="273" r:id="rId18"/>
    <p:sldId id="274" r:id="rId19"/>
    <p:sldId id="277" r:id="rId20"/>
    <p:sldId id="276" r:id="rId21"/>
    <p:sldId id="26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ddhartha Tomar /Digital Transformation/HO" initials="ST/T" lastIdx="1" clrIdx="0">
    <p:extLst>
      <p:ext uri="{19B8F6BF-5375-455C-9EA6-DF929625EA0E}">
        <p15:presenceInfo xmlns:p15="http://schemas.microsoft.com/office/powerpoint/2012/main" userId="Siddhartha Tomar /Digital Transformation/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0" d="100"/>
          <a:sy n="60" d="100"/>
        </p:scale>
        <p:origin x="114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85FAF77-6A9E-4864-9393-5A265388AD0D}" type="datetimeFigureOut">
              <a:rPr lang="en-US" smtClean="0"/>
              <a:t>27-06-2025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65E910-D5F6-4CF0-BA28-04450F84D5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8959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85FAF77-6A9E-4864-9393-5A265388AD0D}" type="datetimeFigureOut">
              <a:rPr lang="en-US" smtClean="0"/>
              <a:t>27-06-2025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65E910-D5F6-4CF0-BA28-04450F84D51F}" type="slidenum">
              <a:rPr lang="en-US" smtClean="0"/>
              <a:t>‹#›</a:t>
            </a:fld>
            <a:endParaRPr lang="en-US"/>
          </a:p>
        </p:txBody>
      </p:sp>
    </p:spTree>
    <p:extLst>
      <p:ext uri="{BB962C8B-B14F-4D97-AF65-F5344CB8AC3E}">
        <p14:creationId xmlns:p14="http://schemas.microsoft.com/office/powerpoint/2010/main" val="9637532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85FAF77-6A9E-4864-9393-5A265388AD0D}" type="datetimeFigureOut">
              <a:rPr lang="en-US" smtClean="0"/>
              <a:t>27-06-2025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65E910-D5F6-4CF0-BA28-04450F84D51F}"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772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85FAF77-6A9E-4864-9393-5A265388AD0D}" type="datetimeFigureOut">
              <a:rPr lang="en-US" smtClean="0"/>
              <a:t>27-06-2025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65E910-D5F6-4CF0-BA28-04450F84D51F}" type="slidenum">
              <a:rPr lang="en-US" smtClean="0"/>
              <a:t>‹#›</a:t>
            </a:fld>
            <a:endParaRPr lang="en-US"/>
          </a:p>
        </p:txBody>
      </p:sp>
    </p:spTree>
    <p:extLst>
      <p:ext uri="{BB962C8B-B14F-4D97-AF65-F5344CB8AC3E}">
        <p14:creationId xmlns:p14="http://schemas.microsoft.com/office/powerpoint/2010/main" val="2718218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85FAF77-6A9E-4864-9393-5A265388AD0D}" type="datetimeFigureOut">
              <a:rPr lang="en-US" smtClean="0"/>
              <a:t>27-06-2025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A65E910-D5F6-4CF0-BA28-04450F84D51F}" type="slidenum">
              <a:rPr lang="en-US" smtClean="0"/>
              <a:t>‹#›</a:t>
            </a:fld>
            <a:endParaRPr lang="en-US"/>
          </a:p>
        </p:txBody>
      </p:sp>
    </p:spTree>
    <p:extLst>
      <p:ext uri="{BB962C8B-B14F-4D97-AF65-F5344CB8AC3E}">
        <p14:creationId xmlns:p14="http://schemas.microsoft.com/office/powerpoint/2010/main" val="2659166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85FAF77-6A9E-4864-9393-5A265388AD0D}" type="datetimeFigureOut">
              <a:rPr lang="en-US" smtClean="0"/>
              <a:t>27-06-2025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A65E910-D5F6-4CF0-BA28-04450F84D51F}" type="slidenum">
              <a:rPr lang="en-US" smtClean="0"/>
              <a:t>‹#›</a:t>
            </a:fld>
            <a:endParaRPr lang="en-US"/>
          </a:p>
        </p:txBody>
      </p:sp>
    </p:spTree>
    <p:extLst>
      <p:ext uri="{BB962C8B-B14F-4D97-AF65-F5344CB8AC3E}">
        <p14:creationId xmlns:p14="http://schemas.microsoft.com/office/powerpoint/2010/main" val="394501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85FAF77-6A9E-4864-9393-5A265388AD0D}" type="datetimeFigureOut">
              <a:rPr lang="en-US" smtClean="0"/>
              <a:t>27-06-2025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A65E910-D5F6-4CF0-BA28-04450F84D51F}" type="slidenum">
              <a:rPr lang="en-US" smtClean="0"/>
              <a:t>‹#›</a:t>
            </a:fld>
            <a:endParaRPr lang="en-US"/>
          </a:p>
        </p:txBody>
      </p:sp>
    </p:spTree>
    <p:extLst>
      <p:ext uri="{BB962C8B-B14F-4D97-AF65-F5344CB8AC3E}">
        <p14:creationId xmlns:p14="http://schemas.microsoft.com/office/powerpoint/2010/main" val="2428552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85FAF77-6A9E-4864-9393-5A265388AD0D}" type="datetimeFigureOut">
              <a:rPr lang="en-US" smtClean="0"/>
              <a:t>27-06-2025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A65E910-D5F6-4CF0-BA28-04450F84D51F}" type="slidenum">
              <a:rPr lang="en-US" smtClean="0"/>
              <a:t>‹#›</a:t>
            </a:fld>
            <a:endParaRPr lang="en-US"/>
          </a:p>
        </p:txBody>
      </p:sp>
    </p:spTree>
    <p:extLst>
      <p:ext uri="{BB962C8B-B14F-4D97-AF65-F5344CB8AC3E}">
        <p14:creationId xmlns:p14="http://schemas.microsoft.com/office/powerpoint/2010/main" val="3075045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85FAF77-6A9E-4864-9393-5A265388AD0D}" type="datetimeFigureOut">
              <a:rPr lang="en-US" smtClean="0"/>
              <a:t>27-06-2025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A65E910-D5F6-4CF0-BA28-04450F84D51F}" type="slidenum">
              <a:rPr lang="en-US" smtClean="0"/>
              <a:t>‹#›</a:t>
            </a:fld>
            <a:endParaRPr lang="en-US"/>
          </a:p>
        </p:txBody>
      </p:sp>
    </p:spTree>
    <p:extLst>
      <p:ext uri="{BB962C8B-B14F-4D97-AF65-F5344CB8AC3E}">
        <p14:creationId xmlns:p14="http://schemas.microsoft.com/office/powerpoint/2010/main" val="3474082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85FAF77-6A9E-4864-9393-5A265388AD0D}" type="datetimeFigureOut">
              <a:rPr lang="en-US" smtClean="0"/>
              <a:t>27-06-2025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65E910-D5F6-4CF0-BA28-04450F84D51F}" type="slidenum">
              <a:rPr lang="en-US" smtClean="0"/>
              <a:t>‹#›</a:t>
            </a:fld>
            <a:endParaRPr lang="en-US"/>
          </a:p>
        </p:txBody>
      </p:sp>
    </p:spTree>
    <p:extLst>
      <p:ext uri="{BB962C8B-B14F-4D97-AF65-F5344CB8AC3E}">
        <p14:creationId xmlns:p14="http://schemas.microsoft.com/office/powerpoint/2010/main" val="502769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85FAF77-6A9E-4864-9393-5A265388AD0D}" type="datetimeFigureOut">
              <a:rPr lang="en-US" smtClean="0"/>
              <a:t>27-06-2025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A65E910-D5F6-4CF0-BA28-04450F84D51F}" type="slidenum">
              <a:rPr lang="en-US" smtClean="0"/>
              <a:t>‹#›</a:t>
            </a:fld>
            <a:endParaRPr lang="en-US"/>
          </a:p>
        </p:txBody>
      </p:sp>
    </p:spTree>
    <p:extLst>
      <p:ext uri="{BB962C8B-B14F-4D97-AF65-F5344CB8AC3E}">
        <p14:creationId xmlns:p14="http://schemas.microsoft.com/office/powerpoint/2010/main" val="3829513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85FAF77-6A9E-4864-9393-5A265388AD0D}" type="datetimeFigureOut">
              <a:rPr lang="en-US" smtClean="0"/>
              <a:t>27-06-2025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A65E910-D5F6-4CF0-BA28-04450F84D51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560027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012" y="160421"/>
            <a:ext cx="11823652" cy="1323821"/>
          </a:xfrm>
        </p:spPr>
        <p:txBody>
          <a:bodyPr>
            <a:normAutofit fontScale="90000"/>
          </a:bodyPr>
          <a:lstStyle/>
          <a:p>
            <a:r>
              <a:rPr lang="en-IN" b="1" dirty="0" smtClean="0"/>
              <a:t>Division wise Priority product mapping configuration: </a:t>
            </a:r>
            <a:br>
              <a:rPr lang="en-IN" b="1" dirty="0" smtClean="0"/>
            </a:br>
            <a:r>
              <a:rPr lang="en-IN" sz="3100" dirty="0" smtClean="0"/>
              <a:t>Available in WFSA </a:t>
            </a:r>
            <a:endParaRPr lang="en-US" sz="3100" dirty="0"/>
          </a:p>
        </p:txBody>
      </p:sp>
      <p:sp>
        <p:nvSpPr>
          <p:cNvPr id="4" name="Rounded Rectangle 3"/>
          <p:cNvSpPr/>
          <p:nvPr/>
        </p:nvSpPr>
        <p:spPr>
          <a:xfrm>
            <a:off x="5764701" y="2557672"/>
            <a:ext cx="3405809" cy="95286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ounded Rectangle 5"/>
          <p:cNvSpPr/>
          <p:nvPr/>
        </p:nvSpPr>
        <p:spPr>
          <a:xfrm>
            <a:off x="1212574" y="4658140"/>
            <a:ext cx="7686265" cy="133846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1066802" y="2164284"/>
            <a:ext cx="3664224" cy="369332"/>
          </a:xfrm>
          <a:prstGeom prst="rect">
            <a:avLst/>
          </a:prstGeom>
          <a:noFill/>
          <a:ln>
            <a:noFill/>
          </a:ln>
        </p:spPr>
        <p:txBody>
          <a:bodyPr wrap="square" rtlCol="0">
            <a:spAutoFit/>
          </a:bodyPr>
          <a:lstStyle/>
          <a:p>
            <a:r>
              <a:rPr lang="en-IN" dirty="0" smtClean="0"/>
              <a:t>Divisions configured On</a:t>
            </a:r>
            <a:r>
              <a:rPr lang="en-IN" b="1" dirty="0" smtClean="0"/>
              <a:t> SKU </a:t>
            </a:r>
            <a:r>
              <a:rPr lang="en-IN" dirty="0" smtClean="0"/>
              <a:t>level  </a:t>
            </a:r>
          </a:p>
        </p:txBody>
      </p:sp>
      <p:sp>
        <p:nvSpPr>
          <p:cNvPr id="11" name="Rounded Rectangle 10"/>
          <p:cNvSpPr/>
          <p:nvPr/>
        </p:nvSpPr>
        <p:spPr>
          <a:xfrm>
            <a:off x="1066802" y="2537792"/>
            <a:ext cx="3405809" cy="952863"/>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331465" y="2767255"/>
            <a:ext cx="3034998" cy="369332"/>
          </a:xfrm>
          <a:prstGeom prst="rect">
            <a:avLst/>
          </a:prstGeom>
        </p:spPr>
        <p:txBody>
          <a:bodyPr wrap="none">
            <a:spAutoFit/>
          </a:bodyPr>
          <a:lstStyle/>
          <a:p>
            <a:r>
              <a:rPr lang="en-US" b="1" dirty="0" smtClean="0"/>
              <a:t>3D-Mankind,Activus Mankind</a:t>
            </a:r>
            <a:endParaRPr lang="en-US" b="1" dirty="0"/>
          </a:p>
        </p:txBody>
      </p:sp>
      <p:sp>
        <p:nvSpPr>
          <p:cNvPr id="13" name="Rectangle 12"/>
          <p:cNvSpPr/>
          <p:nvPr/>
        </p:nvSpPr>
        <p:spPr>
          <a:xfrm>
            <a:off x="5949849" y="2813639"/>
            <a:ext cx="2843984" cy="369332"/>
          </a:xfrm>
          <a:prstGeom prst="rect">
            <a:avLst/>
          </a:prstGeom>
        </p:spPr>
        <p:txBody>
          <a:bodyPr wrap="none">
            <a:spAutoFit/>
          </a:bodyPr>
          <a:lstStyle/>
          <a:p>
            <a:r>
              <a:rPr lang="en-US" b="1" dirty="0" smtClean="0"/>
              <a:t>Templar , Gravitas , </a:t>
            </a:r>
            <a:r>
              <a:rPr lang="en-US" b="1" dirty="0" err="1" smtClean="0"/>
              <a:t>Ocularis</a:t>
            </a:r>
            <a:endParaRPr lang="en-US" b="1" dirty="0"/>
          </a:p>
        </p:txBody>
      </p:sp>
      <p:sp>
        <p:nvSpPr>
          <p:cNvPr id="14" name="Rectangle 13"/>
          <p:cNvSpPr/>
          <p:nvPr/>
        </p:nvSpPr>
        <p:spPr>
          <a:xfrm>
            <a:off x="1212574" y="4755085"/>
            <a:ext cx="7573617" cy="923330"/>
          </a:xfrm>
          <a:prstGeom prst="rect">
            <a:avLst/>
          </a:prstGeom>
        </p:spPr>
        <p:txBody>
          <a:bodyPr wrap="square">
            <a:spAutoFit/>
          </a:bodyPr>
          <a:lstStyle/>
          <a:p>
            <a:r>
              <a:rPr lang="en-US" b="1" dirty="0" smtClean="0"/>
              <a:t>           Mankind, Discovery, Future </a:t>
            </a:r>
            <a:r>
              <a:rPr lang="en-US" b="1" dirty="0"/>
              <a:t>Mankind</a:t>
            </a:r>
            <a:r>
              <a:rPr lang="en-US" b="1" dirty="0" smtClean="0"/>
              <a:t>, Life </a:t>
            </a:r>
            <a:r>
              <a:rPr lang="en-US" b="1" dirty="0"/>
              <a:t>Mankind</a:t>
            </a:r>
            <a:r>
              <a:rPr lang="en-US" b="1" dirty="0" smtClean="0"/>
              <a:t>, Star Mankind                               	  Neo Mankind, </a:t>
            </a:r>
            <a:r>
              <a:rPr lang="en-US" b="1" dirty="0" err="1" smtClean="0"/>
              <a:t>Zesteva</a:t>
            </a:r>
            <a:r>
              <a:rPr lang="en-US" b="1" dirty="0" smtClean="0"/>
              <a:t>, Transplantation,  </a:t>
            </a:r>
            <a:r>
              <a:rPr lang="en-US" b="1" dirty="0" err="1" smtClean="0"/>
              <a:t>Nobelis</a:t>
            </a:r>
            <a:r>
              <a:rPr lang="en-US" b="1" dirty="0" smtClean="0"/>
              <a:t>,  </a:t>
            </a:r>
            <a:r>
              <a:rPr lang="en-US" b="1" dirty="0" err="1" smtClean="0"/>
              <a:t>Aspiris</a:t>
            </a:r>
            <a:r>
              <a:rPr lang="en-US" b="1" dirty="0" smtClean="0"/>
              <a:t> </a:t>
            </a:r>
            <a:r>
              <a:rPr lang="en-US" b="1" dirty="0"/>
              <a:t>Mankind </a:t>
            </a:r>
            <a:r>
              <a:rPr lang="en-US" b="1" dirty="0" smtClean="0"/>
              <a:t>,         	 	  </a:t>
            </a:r>
            <a:r>
              <a:rPr lang="en-US" b="1" dirty="0" err="1" smtClean="0"/>
              <a:t>Cerebris</a:t>
            </a:r>
            <a:r>
              <a:rPr lang="en-US" b="1" dirty="0" smtClean="0"/>
              <a:t>,</a:t>
            </a:r>
            <a:r>
              <a:rPr lang="en-US" b="1" dirty="0"/>
              <a:t> </a:t>
            </a:r>
            <a:r>
              <a:rPr lang="en-US" b="1" dirty="0" err="1"/>
              <a:t>Curis</a:t>
            </a:r>
            <a:r>
              <a:rPr lang="en-US" b="1" dirty="0"/>
              <a:t>, </a:t>
            </a:r>
            <a:r>
              <a:rPr lang="en-US" b="1" dirty="0" err="1" smtClean="0"/>
              <a:t>Onco</a:t>
            </a:r>
            <a:r>
              <a:rPr lang="en-US" b="1" dirty="0" smtClean="0"/>
              <a:t> Mankind, </a:t>
            </a:r>
            <a:r>
              <a:rPr lang="en-US" b="1" dirty="0" err="1" smtClean="0"/>
              <a:t>Diacar</a:t>
            </a:r>
            <a:r>
              <a:rPr lang="en-US" b="1" dirty="0" smtClean="0"/>
              <a:t>, </a:t>
            </a:r>
            <a:r>
              <a:rPr lang="en-US" b="1" dirty="0" err="1" smtClean="0"/>
              <a:t>Procare</a:t>
            </a:r>
            <a:r>
              <a:rPr lang="en-US" b="1" dirty="0" smtClean="0"/>
              <a:t>,  </a:t>
            </a:r>
            <a:r>
              <a:rPr lang="en-US" b="1" dirty="0" err="1" smtClean="0"/>
              <a:t>Victrix</a:t>
            </a:r>
            <a:r>
              <a:rPr lang="en-US" b="1" dirty="0" smtClean="0"/>
              <a:t> Mankind</a:t>
            </a:r>
            <a:endParaRPr lang="en-US" b="1" dirty="0"/>
          </a:p>
        </p:txBody>
      </p:sp>
      <p:sp>
        <p:nvSpPr>
          <p:cNvPr id="15" name="TextBox 14"/>
          <p:cNvSpPr txBox="1"/>
          <p:nvPr/>
        </p:nvSpPr>
        <p:spPr>
          <a:xfrm>
            <a:off x="5711691" y="2184164"/>
            <a:ext cx="4147925" cy="369332"/>
          </a:xfrm>
          <a:prstGeom prst="rect">
            <a:avLst/>
          </a:prstGeom>
          <a:noFill/>
          <a:ln>
            <a:noFill/>
          </a:ln>
        </p:spPr>
        <p:txBody>
          <a:bodyPr wrap="square" rtlCol="0">
            <a:spAutoFit/>
          </a:bodyPr>
          <a:lstStyle/>
          <a:p>
            <a:r>
              <a:rPr lang="en-IN" dirty="0" smtClean="0"/>
              <a:t>Divisions configured On </a:t>
            </a:r>
            <a:r>
              <a:rPr lang="en-IN" b="1" dirty="0" smtClean="0"/>
              <a:t>Sub Brand </a:t>
            </a:r>
            <a:r>
              <a:rPr lang="en-IN" dirty="0" smtClean="0"/>
              <a:t>level  </a:t>
            </a:r>
          </a:p>
        </p:txBody>
      </p:sp>
      <p:sp>
        <p:nvSpPr>
          <p:cNvPr id="16" name="TextBox 15"/>
          <p:cNvSpPr txBox="1"/>
          <p:nvPr/>
        </p:nvSpPr>
        <p:spPr>
          <a:xfrm>
            <a:off x="2471531" y="4297885"/>
            <a:ext cx="4830417" cy="369332"/>
          </a:xfrm>
          <a:prstGeom prst="rect">
            <a:avLst/>
          </a:prstGeom>
          <a:noFill/>
          <a:ln>
            <a:noFill/>
          </a:ln>
        </p:spPr>
        <p:txBody>
          <a:bodyPr wrap="square" rtlCol="0">
            <a:spAutoFit/>
          </a:bodyPr>
          <a:lstStyle/>
          <a:p>
            <a:pPr algn="ctr"/>
            <a:r>
              <a:rPr lang="en-IN" dirty="0" smtClean="0"/>
              <a:t>Divisions configured On </a:t>
            </a:r>
            <a:r>
              <a:rPr lang="en-IN" b="1" dirty="0" smtClean="0"/>
              <a:t>Brand </a:t>
            </a:r>
            <a:r>
              <a:rPr lang="en-IN" dirty="0" smtClean="0"/>
              <a:t>level  </a:t>
            </a:r>
          </a:p>
        </p:txBody>
      </p:sp>
    </p:spTree>
    <p:extLst>
      <p:ext uri="{BB962C8B-B14F-4D97-AF65-F5344CB8AC3E}">
        <p14:creationId xmlns:p14="http://schemas.microsoft.com/office/powerpoint/2010/main" val="98212009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5853" y="-18199"/>
            <a:ext cx="11053009" cy="1450757"/>
          </a:xfrm>
        </p:spPr>
        <p:txBody>
          <a:bodyPr vert="horz" lIns="91440" tIns="45720" rIns="91440" bIns="45720" rtlCol="0" anchor="b">
            <a:normAutofit/>
          </a:bodyPr>
          <a:lstStyle/>
          <a:p>
            <a:r>
              <a:rPr lang="en-IN" b="1" dirty="0"/>
              <a:t>SKU </a:t>
            </a:r>
            <a:r>
              <a:rPr lang="en-IN" dirty="0"/>
              <a:t>wise </a:t>
            </a:r>
            <a:r>
              <a:rPr lang="en-IN" dirty="0" smtClean="0"/>
              <a:t>configuration</a:t>
            </a:r>
            <a:r>
              <a:rPr lang="en-IN" sz="2800" dirty="0" smtClean="0"/>
              <a:t>(3D-Mankind, </a:t>
            </a:r>
            <a:r>
              <a:rPr lang="en-IN" sz="2800" dirty="0" err="1" smtClean="0"/>
              <a:t>Activus</a:t>
            </a:r>
            <a:r>
              <a:rPr lang="en-IN" sz="2800" dirty="0"/>
              <a:t>)</a:t>
            </a:r>
            <a:endParaRPr lang="en-US" sz="2800" dirty="0"/>
          </a:p>
        </p:txBody>
      </p:sp>
      <p:sp>
        <p:nvSpPr>
          <p:cNvPr id="3" name="Content Placeholder 2"/>
          <p:cNvSpPr>
            <a:spLocks noGrp="1"/>
          </p:cNvSpPr>
          <p:nvPr>
            <p:ph idx="1"/>
          </p:nvPr>
        </p:nvSpPr>
        <p:spPr/>
        <p:txBody>
          <a:bodyPr/>
          <a:lstStyle/>
          <a:p>
            <a:endParaRPr lang="en-US"/>
          </a:p>
        </p:txBody>
      </p:sp>
      <p:pic>
        <p:nvPicPr>
          <p:cNvPr id="6"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934" y="1747485"/>
            <a:ext cx="10135910" cy="4199129"/>
          </a:xfrm>
          <a:prstGeom prst="rect">
            <a:avLst/>
          </a:prstGeom>
        </p:spPr>
      </p:pic>
    </p:spTree>
    <p:extLst>
      <p:ext uri="{BB962C8B-B14F-4D97-AF65-F5344CB8AC3E}">
        <p14:creationId xmlns:p14="http://schemas.microsoft.com/office/powerpoint/2010/main" val="2268527279"/>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2106" y="94099"/>
            <a:ext cx="10780294" cy="1450757"/>
          </a:xfrm>
        </p:spPr>
        <p:txBody>
          <a:bodyPr vert="horz" lIns="91440" tIns="45720" rIns="91440" bIns="45720" rtlCol="0" anchor="b">
            <a:normAutofit/>
          </a:bodyPr>
          <a:lstStyle/>
          <a:p>
            <a:r>
              <a:rPr lang="en-IN" b="1" dirty="0"/>
              <a:t>Sub Brand </a:t>
            </a:r>
            <a:r>
              <a:rPr lang="en-IN" dirty="0"/>
              <a:t>wise configuration</a:t>
            </a:r>
            <a:r>
              <a:rPr lang="en-IN" sz="2800" dirty="0"/>
              <a:t>(Templar, </a:t>
            </a:r>
            <a:r>
              <a:rPr lang="en-IN" sz="2800" dirty="0" err="1"/>
              <a:t>Ocularis</a:t>
            </a:r>
            <a:r>
              <a:rPr lang="en-IN" sz="2800" dirty="0"/>
              <a:t>, Gravitas)</a:t>
            </a:r>
            <a:endParaRPr lang="en-US"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6963" y="1876425"/>
            <a:ext cx="10058400" cy="3962400"/>
          </a:xfrm>
        </p:spPr>
      </p:pic>
    </p:spTree>
    <p:extLst>
      <p:ext uri="{BB962C8B-B14F-4D97-AF65-F5344CB8AC3E}">
        <p14:creationId xmlns:p14="http://schemas.microsoft.com/office/powerpoint/2010/main" val="229510405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286603"/>
            <a:ext cx="10697155" cy="1214651"/>
          </a:xfrm>
        </p:spPr>
        <p:txBody>
          <a:bodyPr vert="horz" lIns="91440" tIns="45720" rIns="91440" bIns="45720" rtlCol="0" anchor="b">
            <a:normAutofit/>
          </a:bodyPr>
          <a:lstStyle/>
          <a:p>
            <a:r>
              <a:rPr lang="en-IN" b="1" dirty="0" smtClean="0"/>
              <a:t>Brand </a:t>
            </a:r>
            <a:r>
              <a:rPr lang="en-IN" dirty="0"/>
              <a:t>wise configuration</a:t>
            </a:r>
            <a:r>
              <a:rPr lang="en-IN" sz="2800" dirty="0"/>
              <a:t>(Rest </a:t>
            </a:r>
            <a:r>
              <a:rPr lang="en-IN" sz="2800" dirty="0" smtClean="0"/>
              <a:t>all Pharma Divisions</a:t>
            </a:r>
            <a:r>
              <a:rPr lang="en-IN" sz="2800" dirty="0"/>
              <a:t>)</a:t>
            </a:r>
            <a:endParaRPr lang="en-US" sz="2800"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84929" y="1737360"/>
            <a:ext cx="10551698" cy="3916681"/>
          </a:xfrm>
        </p:spPr>
      </p:pic>
    </p:spTree>
    <p:extLst>
      <p:ext uri="{BB962C8B-B14F-4D97-AF65-F5344CB8AC3E}">
        <p14:creationId xmlns:p14="http://schemas.microsoft.com/office/powerpoint/2010/main" val="27820667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834" y="286603"/>
            <a:ext cx="10058400" cy="1450757"/>
          </a:xfrm>
        </p:spPr>
        <p:txBody>
          <a:bodyPr vert="horz" lIns="91440" tIns="45720" rIns="91440" bIns="45720" rtlCol="0" anchor="ctr">
            <a:normAutofit/>
          </a:bodyPr>
          <a:lstStyle/>
          <a:p>
            <a:pPr algn="ctr"/>
            <a:r>
              <a:rPr lang="en-IN" dirty="0"/>
              <a:t>RCPA based upon </a:t>
            </a:r>
            <a:r>
              <a:rPr lang="en-IN" b="1" u="sng" dirty="0"/>
              <a:t>SKU</a:t>
            </a:r>
            <a:r>
              <a:rPr lang="en-IN" sz="2800" dirty="0"/>
              <a:t>(3D-Mankind)</a:t>
            </a:r>
            <a:r>
              <a:rPr lang="en-IN" b="1" dirty="0"/>
              <a:t/>
            </a:r>
            <a:br>
              <a:rPr lang="en-IN" b="1" dirty="0"/>
            </a:br>
            <a:endParaRPr lang="en-US" b="1" dirty="0"/>
          </a:p>
        </p:txBody>
      </p:sp>
      <p:pic>
        <p:nvPicPr>
          <p:cNvPr id="9" name="Picture 8"/>
          <p:cNvPicPr>
            <a:picLocks noChangeAspect="1"/>
          </p:cNvPicPr>
          <p:nvPr/>
        </p:nvPicPr>
        <p:blipFill>
          <a:blip r:embed="rId2"/>
          <a:stretch>
            <a:fillRect/>
          </a:stretch>
        </p:blipFill>
        <p:spPr>
          <a:xfrm>
            <a:off x="490611" y="1712821"/>
            <a:ext cx="4742949" cy="4401376"/>
          </a:xfrm>
          <a:prstGeom prst="rect">
            <a:avLst/>
          </a:prstGeom>
        </p:spPr>
      </p:pic>
      <p:pic>
        <p:nvPicPr>
          <p:cNvPr id="10" name="Picture 9"/>
          <p:cNvPicPr>
            <a:picLocks noChangeAspect="1"/>
          </p:cNvPicPr>
          <p:nvPr/>
        </p:nvPicPr>
        <p:blipFill>
          <a:blip r:embed="rId3"/>
          <a:stretch>
            <a:fillRect/>
          </a:stretch>
        </p:blipFill>
        <p:spPr>
          <a:xfrm>
            <a:off x="5403310" y="1737360"/>
            <a:ext cx="6550110" cy="4404133"/>
          </a:xfrm>
          <a:prstGeom prst="rect">
            <a:avLst/>
          </a:prstGeom>
        </p:spPr>
      </p:pic>
      <p:sp>
        <p:nvSpPr>
          <p:cNvPr id="11" name="Oval 10"/>
          <p:cNvSpPr/>
          <p:nvPr/>
        </p:nvSpPr>
        <p:spPr>
          <a:xfrm>
            <a:off x="7362608" y="3988499"/>
            <a:ext cx="1746914" cy="68238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Tree>
    <p:extLst>
      <p:ext uri="{BB962C8B-B14F-4D97-AF65-F5344CB8AC3E}">
        <p14:creationId xmlns:p14="http://schemas.microsoft.com/office/powerpoint/2010/main" val="37351908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79" y="1241946"/>
            <a:ext cx="10717731" cy="734105"/>
          </a:xfrm>
        </p:spPr>
        <p:txBody>
          <a:bodyPr vert="horz" lIns="91440" tIns="45720" rIns="91440" bIns="45720" rtlCol="0" anchor="b">
            <a:noAutofit/>
          </a:bodyPr>
          <a:lstStyle/>
          <a:p>
            <a:pPr algn="ctr"/>
            <a:r>
              <a:rPr lang="en-IN" b="1" dirty="0"/>
              <a:t/>
            </a:r>
            <a:br>
              <a:rPr lang="en-IN" b="1" dirty="0"/>
            </a:br>
            <a:r>
              <a:rPr lang="en-IN" b="1" dirty="0"/>
              <a:t/>
            </a:r>
            <a:br>
              <a:rPr lang="en-IN" b="1" dirty="0"/>
            </a:br>
            <a:r>
              <a:rPr lang="en-IN" dirty="0"/>
              <a:t>E-Detailing based upon </a:t>
            </a:r>
            <a:r>
              <a:rPr lang="en-IN" b="1" u="sng" dirty="0"/>
              <a:t>SKU</a:t>
            </a:r>
            <a:r>
              <a:rPr lang="en-IN" sz="2800" dirty="0"/>
              <a:t>(3D-Mankind)</a:t>
            </a:r>
            <a:r>
              <a:rPr lang="en-IN" b="1" dirty="0" smtClean="0"/>
              <a:t> </a:t>
            </a:r>
            <a:r>
              <a:rPr lang="en-IN" b="1" dirty="0"/>
              <a:t/>
            </a:r>
            <a:br>
              <a:rPr lang="en-IN" b="1" dirty="0"/>
            </a:br>
            <a:endParaRPr lang="en-US" b="1" dirty="0"/>
          </a:p>
        </p:txBody>
      </p:sp>
      <p:pic>
        <p:nvPicPr>
          <p:cNvPr id="4" name="Picture 3"/>
          <p:cNvPicPr>
            <a:picLocks noChangeAspect="1"/>
          </p:cNvPicPr>
          <p:nvPr/>
        </p:nvPicPr>
        <p:blipFill>
          <a:blip r:embed="rId2"/>
          <a:stretch>
            <a:fillRect/>
          </a:stretch>
        </p:blipFill>
        <p:spPr>
          <a:xfrm>
            <a:off x="883069" y="1749306"/>
            <a:ext cx="4847551" cy="4202315"/>
          </a:xfrm>
          <a:prstGeom prst="rect">
            <a:avLst/>
          </a:prstGeom>
        </p:spPr>
      </p:pic>
      <p:pic>
        <p:nvPicPr>
          <p:cNvPr id="6" name="Picture 5"/>
          <p:cNvPicPr>
            <a:picLocks noChangeAspect="1"/>
          </p:cNvPicPr>
          <p:nvPr/>
        </p:nvPicPr>
        <p:blipFill>
          <a:blip r:embed="rId3"/>
          <a:stretch>
            <a:fillRect/>
          </a:stretch>
        </p:blipFill>
        <p:spPr>
          <a:xfrm>
            <a:off x="5839324" y="1727278"/>
            <a:ext cx="5975686" cy="4413041"/>
          </a:xfrm>
          <a:prstGeom prst="rect">
            <a:avLst/>
          </a:prstGeom>
        </p:spPr>
      </p:pic>
    </p:spTree>
    <p:extLst>
      <p:ext uri="{BB962C8B-B14F-4D97-AF65-F5344CB8AC3E}">
        <p14:creationId xmlns:p14="http://schemas.microsoft.com/office/powerpoint/2010/main" val="22823118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377" y="286603"/>
            <a:ext cx="10058400" cy="1450757"/>
          </a:xfrm>
        </p:spPr>
        <p:txBody>
          <a:bodyPr vert="horz" lIns="91440" tIns="45720" rIns="91440" bIns="45720" rtlCol="0" anchor="ctr">
            <a:normAutofit/>
          </a:bodyPr>
          <a:lstStyle/>
          <a:p>
            <a:pPr algn="ctr"/>
            <a:r>
              <a:rPr lang="en-IN" dirty="0" smtClean="0"/>
              <a:t>RCPA </a:t>
            </a:r>
            <a:r>
              <a:rPr lang="en-IN" dirty="0"/>
              <a:t>based upon </a:t>
            </a:r>
            <a:r>
              <a:rPr lang="en-IN" b="1" u="sng" dirty="0" smtClean="0"/>
              <a:t>Sub-brand</a:t>
            </a:r>
            <a:r>
              <a:rPr lang="en-IN" sz="2800" dirty="0" smtClean="0"/>
              <a:t>(Gravitas</a:t>
            </a:r>
            <a:r>
              <a:rPr lang="en-IN" sz="2800" dirty="0"/>
              <a:t>)</a:t>
            </a:r>
            <a:r>
              <a:rPr lang="en-IN" b="1" dirty="0"/>
              <a:t/>
            </a:r>
            <a:br>
              <a:rPr lang="en-IN" b="1" dirty="0"/>
            </a:br>
            <a:endParaRPr lang="en-US" b="1"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708121" y="1764375"/>
            <a:ext cx="5696998" cy="4035922"/>
          </a:xfrm>
        </p:spPr>
      </p:pic>
      <p:pic>
        <p:nvPicPr>
          <p:cNvPr id="6" name="Picture 5"/>
          <p:cNvPicPr>
            <a:picLocks noChangeAspect="1"/>
          </p:cNvPicPr>
          <p:nvPr/>
        </p:nvPicPr>
        <p:blipFill>
          <a:blip r:embed="rId3"/>
          <a:stretch>
            <a:fillRect/>
          </a:stretch>
        </p:blipFill>
        <p:spPr>
          <a:xfrm>
            <a:off x="5414517" y="1737360"/>
            <a:ext cx="6055476" cy="4163995"/>
          </a:xfrm>
          <a:prstGeom prst="rect">
            <a:avLst/>
          </a:prstGeom>
        </p:spPr>
      </p:pic>
      <p:sp>
        <p:nvSpPr>
          <p:cNvPr id="7" name="Oval 6"/>
          <p:cNvSpPr/>
          <p:nvPr/>
        </p:nvSpPr>
        <p:spPr>
          <a:xfrm>
            <a:off x="5550568" y="3721768"/>
            <a:ext cx="1732548" cy="72991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Tree>
    <p:extLst>
      <p:ext uri="{BB962C8B-B14F-4D97-AF65-F5344CB8AC3E}">
        <p14:creationId xmlns:p14="http://schemas.microsoft.com/office/powerpoint/2010/main" val="23590801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1490" y="477672"/>
            <a:ext cx="10717731" cy="1265403"/>
          </a:xfrm>
        </p:spPr>
        <p:txBody>
          <a:bodyPr vert="horz" lIns="91440" tIns="45720" rIns="91440" bIns="45720" rtlCol="0" anchor="ctr">
            <a:normAutofit fontScale="90000"/>
          </a:bodyPr>
          <a:lstStyle/>
          <a:p>
            <a:pPr algn="ctr"/>
            <a:r>
              <a:rPr lang="en-IN" b="1" dirty="0"/>
              <a:t/>
            </a:r>
            <a:br>
              <a:rPr lang="en-IN" b="1" dirty="0"/>
            </a:br>
            <a:r>
              <a:rPr lang="en-IN" sz="5300" dirty="0" smtClean="0"/>
              <a:t>E-Detailing </a:t>
            </a:r>
            <a:r>
              <a:rPr lang="en-IN" sz="5400" dirty="0"/>
              <a:t>based upon </a:t>
            </a:r>
            <a:r>
              <a:rPr lang="en-IN" sz="5400" b="1" u="sng" dirty="0"/>
              <a:t>Sub-brand</a:t>
            </a:r>
            <a:r>
              <a:rPr lang="en-IN" sz="3200" dirty="0"/>
              <a:t>(Gravitas)</a:t>
            </a:r>
            <a:r>
              <a:rPr lang="en-IN" b="1" dirty="0" smtClean="0"/>
              <a:t> </a:t>
            </a:r>
            <a:r>
              <a:rPr lang="en-IN" b="1" dirty="0"/>
              <a:t/>
            </a:r>
            <a:br>
              <a:rPr lang="en-IN" b="1" dirty="0"/>
            </a:br>
            <a:endParaRPr lang="en-US" b="1" dirty="0"/>
          </a:p>
        </p:txBody>
      </p:sp>
      <p:pic>
        <p:nvPicPr>
          <p:cNvPr id="5" name="Picture 4"/>
          <p:cNvPicPr>
            <a:picLocks noChangeAspect="1"/>
          </p:cNvPicPr>
          <p:nvPr/>
        </p:nvPicPr>
        <p:blipFill>
          <a:blip r:embed="rId2"/>
          <a:stretch>
            <a:fillRect/>
          </a:stretch>
        </p:blipFill>
        <p:spPr>
          <a:xfrm>
            <a:off x="648704" y="1743075"/>
            <a:ext cx="4788098" cy="4533097"/>
          </a:xfrm>
          <a:prstGeom prst="rect">
            <a:avLst/>
          </a:prstGeom>
        </p:spPr>
      </p:pic>
      <p:pic>
        <p:nvPicPr>
          <p:cNvPr id="9" name="Picture 8"/>
          <p:cNvPicPr>
            <a:picLocks noChangeAspect="1"/>
          </p:cNvPicPr>
          <p:nvPr/>
        </p:nvPicPr>
        <p:blipFill>
          <a:blip r:embed="rId3"/>
          <a:stretch>
            <a:fillRect/>
          </a:stretch>
        </p:blipFill>
        <p:spPr>
          <a:xfrm>
            <a:off x="5541451" y="1747198"/>
            <a:ext cx="5943141" cy="4528974"/>
          </a:xfrm>
          <a:prstGeom prst="rect">
            <a:avLst/>
          </a:prstGeom>
        </p:spPr>
      </p:pic>
    </p:spTree>
    <p:extLst>
      <p:ext uri="{BB962C8B-B14F-4D97-AF65-F5344CB8AC3E}">
        <p14:creationId xmlns:p14="http://schemas.microsoft.com/office/powerpoint/2010/main" val="33905375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6622" y="272955"/>
            <a:ext cx="10959058" cy="1450757"/>
          </a:xfrm>
        </p:spPr>
        <p:txBody>
          <a:bodyPr vert="horz" lIns="91440" tIns="45720" rIns="91440" bIns="45720" rtlCol="0" anchor="ctr">
            <a:normAutofit/>
          </a:bodyPr>
          <a:lstStyle/>
          <a:p>
            <a:pPr algn="ctr"/>
            <a:r>
              <a:rPr lang="en-IN" dirty="0"/>
              <a:t>RCPA based upon </a:t>
            </a:r>
            <a:r>
              <a:rPr lang="en-IN" b="1" u="sng" dirty="0" smtClean="0"/>
              <a:t>Brand</a:t>
            </a:r>
            <a:r>
              <a:rPr lang="en-IN" sz="2800" dirty="0" smtClean="0"/>
              <a:t>(Mankind)</a:t>
            </a:r>
            <a:r>
              <a:rPr lang="en-IN" b="1" dirty="0"/>
              <a:t/>
            </a:r>
            <a:br>
              <a:rPr lang="en-IN" b="1" dirty="0"/>
            </a:br>
            <a:endParaRPr lang="en-US" b="1" dirty="0"/>
          </a:p>
        </p:txBody>
      </p:sp>
      <p:sp>
        <p:nvSpPr>
          <p:cNvPr id="11" name="Oval 10"/>
          <p:cNvSpPr/>
          <p:nvPr/>
        </p:nvSpPr>
        <p:spPr>
          <a:xfrm>
            <a:off x="5581934" y="4148919"/>
            <a:ext cx="1746914" cy="68238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3" name="Picture 2"/>
          <p:cNvPicPr>
            <a:picLocks noChangeAspect="1"/>
          </p:cNvPicPr>
          <p:nvPr/>
        </p:nvPicPr>
        <p:blipFill>
          <a:blip r:embed="rId2"/>
          <a:stretch>
            <a:fillRect/>
          </a:stretch>
        </p:blipFill>
        <p:spPr>
          <a:xfrm>
            <a:off x="196622" y="1736191"/>
            <a:ext cx="4832578" cy="4276521"/>
          </a:xfrm>
          <a:prstGeom prst="rect">
            <a:avLst/>
          </a:prstGeom>
        </p:spPr>
      </p:pic>
      <p:pic>
        <p:nvPicPr>
          <p:cNvPr id="4" name="Picture 3"/>
          <p:cNvPicPr>
            <a:picLocks noChangeAspect="1"/>
          </p:cNvPicPr>
          <p:nvPr/>
        </p:nvPicPr>
        <p:blipFill>
          <a:blip r:embed="rId3"/>
          <a:stretch>
            <a:fillRect/>
          </a:stretch>
        </p:blipFill>
        <p:spPr>
          <a:xfrm>
            <a:off x="5500047" y="1751481"/>
            <a:ext cx="5854891" cy="4247583"/>
          </a:xfrm>
          <a:prstGeom prst="rect">
            <a:avLst/>
          </a:prstGeom>
        </p:spPr>
      </p:pic>
      <p:sp>
        <p:nvSpPr>
          <p:cNvPr id="5" name="Oval 4"/>
          <p:cNvSpPr/>
          <p:nvPr/>
        </p:nvSpPr>
        <p:spPr>
          <a:xfrm>
            <a:off x="5677469" y="3343701"/>
            <a:ext cx="1419367" cy="573206"/>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22095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378" y="-477672"/>
            <a:ext cx="10717731" cy="2325388"/>
          </a:xfrm>
        </p:spPr>
        <p:txBody>
          <a:bodyPr vert="horz" lIns="91440" tIns="45720" rIns="91440" bIns="45720" rtlCol="0" anchor="ctr">
            <a:normAutofit fontScale="90000"/>
          </a:bodyPr>
          <a:lstStyle/>
          <a:p>
            <a:pPr algn="ctr"/>
            <a:r>
              <a:rPr lang="en-IN" dirty="0"/>
              <a:t/>
            </a:r>
            <a:br>
              <a:rPr lang="en-IN" dirty="0"/>
            </a:br>
            <a:r>
              <a:rPr lang="en-IN" sz="5300" dirty="0"/>
              <a:t/>
            </a:r>
            <a:br>
              <a:rPr lang="en-IN" sz="5300" dirty="0"/>
            </a:br>
            <a:r>
              <a:rPr lang="en-IN" sz="5300" dirty="0"/>
              <a:t>E-Detailing based upon </a:t>
            </a:r>
            <a:r>
              <a:rPr lang="en-IN" sz="5300" b="1" u="sng" dirty="0"/>
              <a:t>Brand </a:t>
            </a:r>
            <a:r>
              <a:rPr lang="en-IN" sz="3100" dirty="0"/>
              <a:t>(Mankind)</a:t>
            </a:r>
            <a:r>
              <a:rPr lang="en-IN" dirty="0"/>
              <a:t> </a:t>
            </a:r>
            <a:br>
              <a:rPr lang="en-IN" dirty="0"/>
            </a:br>
            <a:endParaRPr lang="en-US" dirty="0"/>
          </a:p>
        </p:txBody>
      </p:sp>
      <p:pic>
        <p:nvPicPr>
          <p:cNvPr id="3" name="Picture 2"/>
          <p:cNvPicPr>
            <a:picLocks noChangeAspect="1"/>
          </p:cNvPicPr>
          <p:nvPr/>
        </p:nvPicPr>
        <p:blipFill>
          <a:blip r:embed="rId2"/>
          <a:stretch>
            <a:fillRect/>
          </a:stretch>
        </p:blipFill>
        <p:spPr>
          <a:xfrm>
            <a:off x="702254" y="1764616"/>
            <a:ext cx="4976658" cy="4375703"/>
          </a:xfrm>
          <a:prstGeom prst="rect">
            <a:avLst/>
          </a:prstGeom>
        </p:spPr>
      </p:pic>
      <p:pic>
        <p:nvPicPr>
          <p:cNvPr id="5" name="Picture 4"/>
          <p:cNvPicPr>
            <a:picLocks noChangeAspect="1"/>
          </p:cNvPicPr>
          <p:nvPr/>
        </p:nvPicPr>
        <p:blipFill>
          <a:blip r:embed="rId3"/>
          <a:stretch>
            <a:fillRect/>
          </a:stretch>
        </p:blipFill>
        <p:spPr>
          <a:xfrm>
            <a:off x="6055893" y="1733251"/>
            <a:ext cx="5831312" cy="4374984"/>
          </a:xfrm>
          <a:prstGeom prst="rect">
            <a:avLst/>
          </a:prstGeom>
        </p:spPr>
      </p:pic>
    </p:spTree>
    <p:extLst>
      <p:ext uri="{BB962C8B-B14F-4D97-AF65-F5344CB8AC3E}">
        <p14:creationId xmlns:p14="http://schemas.microsoft.com/office/powerpoint/2010/main" val="41905609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544260" cy="2229908"/>
          </a:xfrm>
        </p:spPr>
        <p:txBody>
          <a:bodyPr>
            <a:normAutofit/>
          </a:bodyPr>
          <a:lstStyle/>
          <a:p>
            <a:r>
              <a:rPr lang="en-IN" sz="6800" dirty="0" smtClean="0"/>
              <a:t>E-Detailing Slide configuration </a:t>
            </a:r>
            <a:br>
              <a:rPr lang="en-IN" sz="6800" dirty="0" smtClean="0"/>
            </a:br>
            <a:r>
              <a:rPr lang="en-IN" sz="6800" dirty="0"/>
              <a:t> </a:t>
            </a:r>
            <a:r>
              <a:rPr lang="en-IN" sz="4800" dirty="0" smtClean="0"/>
              <a:t>in CMS Module(WSFA)</a:t>
            </a:r>
            <a:endParaRPr lang="en-US" sz="4800" dirty="0"/>
          </a:p>
        </p:txBody>
      </p:sp>
    </p:spTree>
    <p:extLst>
      <p:ext uri="{BB962C8B-B14F-4D97-AF65-F5344CB8AC3E}">
        <p14:creationId xmlns:p14="http://schemas.microsoft.com/office/powerpoint/2010/main" val="12111473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pPr algn="ctr"/>
            <a:r>
              <a:rPr lang="en-IN" b="1" u="sng" dirty="0" smtClean="0"/>
              <a:t>CMS</a:t>
            </a:r>
            <a:r>
              <a:rPr lang="en-IN" dirty="0" smtClean="0"/>
              <a:t> Portal Workflow Steps</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IN" dirty="0" smtClean="0"/>
              <a:t>Select Division Name</a:t>
            </a:r>
          </a:p>
          <a:p>
            <a:pPr marL="457200" indent="-457200">
              <a:buFont typeface="+mj-lt"/>
              <a:buAutoNum type="arabicPeriod"/>
            </a:pPr>
            <a:r>
              <a:rPr lang="en-IN" dirty="0" smtClean="0"/>
              <a:t>Select Mother Brand Name</a:t>
            </a:r>
          </a:p>
          <a:p>
            <a:pPr marL="457200" indent="-457200">
              <a:buFont typeface="+mj-lt"/>
              <a:buAutoNum type="arabicPeriod"/>
            </a:pPr>
            <a:r>
              <a:rPr lang="en-IN" dirty="0" smtClean="0"/>
              <a:t>Select SKU Name</a:t>
            </a:r>
          </a:p>
          <a:p>
            <a:pPr marL="457200" indent="-457200">
              <a:buFont typeface="+mj-lt"/>
              <a:buAutoNum type="arabicPeriod"/>
            </a:pPr>
            <a:r>
              <a:rPr lang="en-IN" dirty="0" smtClean="0"/>
              <a:t>Select State Name</a:t>
            </a:r>
          </a:p>
          <a:p>
            <a:pPr marL="457200" indent="-457200">
              <a:buFont typeface="+mj-lt"/>
              <a:buAutoNum type="arabicPeriod"/>
            </a:pPr>
            <a:r>
              <a:rPr lang="en-IN" dirty="0" smtClean="0"/>
              <a:t>Select Speciality Name</a:t>
            </a:r>
          </a:p>
          <a:p>
            <a:pPr marL="457200" indent="-457200">
              <a:buFont typeface="+mj-lt"/>
              <a:buAutoNum type="arabicPeriod"/>
            </a:pPr>
            <a:r>
              <a:rPr lang="en-IN" dirty="0" smtClean="0"/>
              <a:t>We’ll </a:t>
            </a:r>
            <a:r>
              <a:rPr lang="en-IN" dirty="0"/>
              <a:t>need to use the Featured option and set the duration if we want to feature the file, and if we do not want to feature it, then do not select the Featured </a:t>
            </a:r>
            <a:r>
              <a:rPr lang="en-IN" dirty="0" smtClean="0"/>
              <a:t>option</a:t>
            </a:r>
          </a:p>
          <a:p>
            <a:pPr marL="457200" indent="-457200">
              <a:buFont typeface="+mj-lt"/>
              <a:buAutoNum type="arabicPeriod"/>
            </a:pPr>
            <a:r>
              <a:rPr lang="en-IN" dirty="0"/>
              <a:t>Select Zip file from source path and save.</a:t>
            </a:r>
            <a:endParaRPr lang="en-US" dirty="0"/>
          </a:p>
          <a:p>
            <a:pPr marL="457200" indent="-457200">
              <a:buFont typeface="+mj-lt"/>
              <a:buAutoNum type="arabicPeriod"/>
            </a:pPr>
            <a:endParaRPr lang="en-US" dirty="0"/>
          </a:p>
          <a:p>
            <a:pPr marL="457200" indent="-457200">
              <a:buFont typeface="+mj-lt"/>
              <a:buAutoNum type="arabicPeriod"/>
            </a:pPr>
            <a:endParaRPr lang="en-IN" dirty="0" smtClean="0"/>
          </a:p>
          <a:p>
            <a:pPr marL="457200" indent="-457200">
              <a:buFont typeface="+mj-lt"/>
              <a:buAutoNum type="arabicPeriod"/>
            </a:pPr>
            <a:endParaRPr lang="en-IN" dirty="0" smtClean="0"/>
          </a:p>
          <a:p>
            <a:endParaRPr lang="en-US" dirty="0"/>
          </a:p>
        </p:txBody>
      </p:sp>
    </p:spTree>
    <p:extLst>
      <p:ext uri="{BB962C8B-B14F-4D97-AF65-F5344CB8AC3E}">
        <p14:creationId xmlns:p14="http://schemas.microsoft.com/office/powerpoint/2010/main" val="26691757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83" y="586851"/>
            <a:ext cx="10394135" cy="986733"/>
          </a:xfrm>
        </p:spPr>
        <p:txBody>
          <a:bodyPr/>
          <a:lstStyle/>
          <a:p>
            <a:r>
              <a:rPr lang="en-IN" dirty="0" smtClean="0"/>
              <a:t>Step#1</a:t>
            </a:r>
            <a:endParaRPr lang="en-US" dirty="0"/>
          </a:p>
        </p:txBody>
      </p:sp>
      <p:pic>
        <p:nvPicPr>
          <p:cNvPr id="4" name="Content Placeholder 3"/>
          <p:cNvPicPr>
            <a:picLocks noGrp="1"/>
          </p:cNvPicPr>
          <p:nvPr>
            <p:ph idx="1"/>
          </p:nvPr>
        </p:nvPicPr>
        <p:blipFill>
          <a:blip r:embed="rId2"/>
          <a:stretch>
            <a:fillRect/>
          </a:stretch>
        </p:blipFill>
        <p:spPr>
          <a:xfrm>
            <a:off x="1097280" y="1842448"/>
            <a:ext cx="10058400" cy="3875963"/>
          </a:xfrm>
          <a:prstGeom prst="rect">
            <a:avLst/>
          </a:prstGeom>
        </p:spPr>
      </p:pic>
      <p:sp>
        <p:nvSpPr>
          <p:cNvPr id="5" name="Oval 4"/>
          <p:cNvSpPr/>
          <p:nvPr/>
        </p:nvSpPr>
        <p:spPr>
          <a:xfrm>
            <a:off x="4694828" y="2088108"/>
            <a:ext cx="3575715" cy="477671"/>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563810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83" y="586851"/>
            <a:ext cx="10394135" cy="986733"/>
          </a:xfrm>
        </p:spPr>
        <p:txBody>
          <a:bodyPr/>
          <a:lstStyle/>
          <a:p>
            <a:r>
              <a:rPr lang="en-IN" dirty="0" smtClean="0"/>
              <a:t>Step#2</a:t>
            </a:r>
            <a:endParaRPr lang="en-US" dirty="0"/>
          </a:p>
        </p:txBody>
      </p:sp>
      <p:sp>
        <p:nvSpPr>
          <p:cNvPr id="3" name="Content Placeholder 2"/>
          <p:cNvSpPr>
            <a:spLocks noGrp="1"/>
          </p:cNvSpPr>
          <p:nvPr>
            <p:ph idx="1"/>
          </p:nvPr>
        </p:nvSpPr>
        <p:spPr/>
        <p:txBody>
          <a:bodyPr/>
          <a:lstStyle/>
          <a:p>
            <a:endParaRPr lang="en-US" dirty="0"/>
          </a:p>
        </p:txBody>
      </p:sp>
      <p:pic>
        <p:nvPicPr>
          <p:cNvPr id="5" name="Picture 4"/>
          <p:cNvPicPr/>
          <p:nvPr/>
        </p:nvPicPr>
        <p:blipFill>
          <a:blip r:embed="rId2"/>
          <a:stretch>
            <a:fillRect/>
          </a:stretch>
        </p:blipFill>
        <p:spPr>
          <a:xfrm>
            <a:off x="1097280" y="1681962"/>
            <a:ext cx="10058400" cy="4187132"/>
          </a:xfrm>
          <a:prstGeom prst="rect">
            <a:avLst/>
          </a:prstGeom>
        </p:spPr>
      </p:pic>
      <p:sp>
        <p:nvSpPr>
          <p:cNvPr id="6" name="Oval 5"/>
          <p:cNvSpPr/>
          <p:nvPr/>
        </p:nvSpPr>
        <p:spPr>
          <a:xfrm>
            <a:off x="8106770" y="1900326"/>
            <a:ext cx="3048910" cy="610863"/>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05256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83" y="586851"/>
            <a:ext cx="10394135" cy="986733"/>
          </a:xfrm>
        </p:spPr>
        <p:txBody>
          <a:bodyPr/>
          <a:lstStyle/>
          <a:p>
            <a:r>
              <a:rPr lang="en-IN" dirty="0" smtClean="0"/>
              <a:t>Step#3</a:t>
            </a:r>
            <a:endParaRPr lang="en-US" dirty="0"/>
          </a:p>
        </p:txBody>
      </p:sp>
      <p:sp>
        <p:nvSpPr>
          <p:cNvPr id="3" name="Content Placeholder 2"/>
          <p:cNvSpPr>
            <a:spLocks noGrp="1"/>
          </p:cNvSpPr>
          <p:nvPr>
            <p:ph idx="1"/>
          </p:nvPr>
        </p:nvSpPr>
        <p:spPr/>
        <p:txBody>
          <a:bodyPr/>
          <a:lstStyle/>
          <a:p>
            <a:endParaRPr lang="en-US" dirty="0"/>
          </a:p>
        </p:txBody>
      </p:sp>
      <p:sp>
        <p:nvSpPr>
          <p:cNvPr id="6" name="Oval 5"/>
          <p:cNvSpPr/>
          <p:nvPr/>
        </p:nvSpPr>
        <p:spPr>
          <a:xfrm>
            <a:off x="8106770" y="1900326"/>
            <a:ext cx="3048910" cy="610863"/>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p:nvPr/>
        </p:nvPicPr>
        <p:blipFill>
          <a:blip r:embed="rId2"/>
          <a:stretch>
            <a:fillRect/>
          </a:stretch>
        </p:blipFill>
        <p:spPr>
          <a:xfrm>
            <a:off x="1101190" y="1705970"/>
            <a:ext cx="10054489" cy="4163123"/>
          </a:xfrm>
          <a:prstGeom prst="rect">
            <a:avLst/>
          </a:prstGeom>
        </p:spPr>
      </p:pic>
      <p:sp>
        <p:nvSpPr>
          <p:cNvPr id="4" name="Oval 3"/>
          <p:cNvSpPr/>
          <p:nvPr/>
        </p:nvSpPr>
        <p:spPr>
          <a:xfrm>
            <a:off x="8106770" y="2497539"/>
            <a:ext cx="3048909" cy="450375"/>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2312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83" y="586851"/>
            <a:ext cx="10394135" cy="986733"/>
          </a:xfrm>
        </p:spPr>
        <p:txBody>
          <a:bodyPr/>
          <a:lstStyle/>
          <a:p>
            <a:r>
              <a:rPr lang="en-IN" dirty="0" smtClean="0"/>
              <a:t>Step#4</a:t>
            </a:r>
            <a:endParaRPr lang="en-US" dirty="0"/>
          </a:p>
        </p:txBody>
      </p:sp>
      <p:sp>
        <p:nvSpPr>
          <p:cNvPr id="3" name="Content Placeholder 2"/>
          <p:cNvSpPr>
            <a:spLocks noGrp="1"/>
          </p:cNvSpPr>
          <p:nvPr>
            <p:ph idx="1"/>
          </p:nvPr>
        </p:nvSpPr>
        <p:spPr/>
        <p:txBody>
          <a:bodyPr/>
          <a:lstStyle/>
          <a:p>
            <a:endParaRPr lang="en-US" dirty="0"/>
          </a:p>
        </p:txBody>
      </p:sp>
      <p:sp>
        <p:nvSpPr>
          <p:cNvPr id="6" name="Oval 5"/>
          <p:cNvSpPr/>
          <p:nvPr/>
        </p:nvSpPr>
        <p:spPr>
          <a:xfrm>
            <a:off x="8106770" y="1900326"/>
            <a:ext cx="3048910" cy="610863"/>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p:nvPr/>
        </p:nvPicPr>
        <p:blipFill>
          <a:blip r:embed="rId2"/>
          <a:stretch>
            <a:fillRect/>
          </a:stretch>
        </p:blipFill>
        <p:spPr>
          <a:xfrm>
            <a:off x="1097278" y="1678675"/>
            <a:ext cx="10058402" cy="4149476"/>
          </a:xfrm>
          <a:prstGeom prst="rect">
            <a:avLst/>
          </a:prstGeom>
        </p:spPr>
      </p:pic>
      <p:sp>
        <p:nvSpPr>
          <p:cNvPr id="9" name="Rounded Rectangle 8"/>
          <p:cNvSpPr/>
          <p:nvPr/>
        </p:nvSpPr>
        <p:spPr>
          <a:xfrm>
            <a:off x="3098042" y="2183642"/>
            <a:ext cx="1651379" cy="3685452"/>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476947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83" y="586851"/>
            <a:ext cx="10394135" cy="986733"/>
          </a:xfrm>
        </p:spPr>
        <p:txBody>
          <a:bodyPr/>
          <a:lstStyle/>
          <a:p>
            <a:r>
              <a:rPr lang="en-IN" dirty="0" smtClean="0"/>
              <a:t>Step#5</a:t>
            </a:r>
            <a:endParaRPr lang="en-US" dirty="0"/>
          </a:p>
        </p:txBody>
      </p:sp>
      <p:sp>
        <p:nvSpPr>
          <p:cNvPr id="6" name="Oval 5"/>
          <p:cNvSpPr/>
          <p:nvPr/>
        </p:nvSpPr>
        <p:spPr>
          <a:xfrm>
            <a:off x="8106770" y="1900326"/>
            <a:ext cx="3048910" cy="610863"/>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3098042" y="2183642"/>
            <a:ext cx="1774209" cy="3685452"/>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p:cNvPicPr>
            <a:picLocks noGrp="1"/>
          </p:cNvPicPr>
          <p:nvPr>
            <p:ph idx="1"/>
          </p:nvPr>
        </p:nvPicPr>
        <p:blipFill>
          <a:blip r:embed="rId2"/>
          <a:stretch>
            <a:fillRect/>
          </a:stretch>
        </p:blipFill>
        <p:spPr>
          <a:xfrm>
            <a:off x="1152764" y="1755014"/>
            <a:ext cx="10202173" cy="4400125"/>
          </a:xfrm>
          <a:prstGeom prst="rect">
            <a:avLst/>
          </a:prstGeom>
        </p:spPr>
      </p:pic>
      <p:sp>
        <p:nvSpPr>
          <p:cNvPr id="5" name="Rounded Rectangle 4"/>
          <p:cNvSpPr/>
          <p:nvPr/>
        </p:nvSpPr>
        <p:spPr>
          <a:xfrm>
            <a:off x="1173707" y="2333767"/>
            <a:ext cx="1924335" cy="3848669"/>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04509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83" y="586851"/>
            <a:ext cx="10394135" cy="986733"/>
          </a:xfrm>
        </p:spPr>
        <p:txBody>
          <a:bodyPr/>
          <a:lstStyle/>
          <a:p>
            <a:r>
              <a:rPr lang="en-IN" dirty="0" smtClean="0"/>
              <a:t>Step#6</a:t>
            </a:r>
            <a:endParaRPr lang="en-US" dirty="0"/>
          </a:p>
        </p:txBody>
      </p:sp>
      <p:sp>
        <p:nvSpPr>
          <p:cNvPr id="6" name="Oval 5"/>
          <p:cNvSpPr/>
          <p:nvPr/>
        </p:nvSpPr>
        <p:spPr>
          <a:xfrm>
            <a:off x="8106770" y="1900326"/>
            <a:ext cx="3048910" cy="610863"/>
          </a:xfrm>
          <a:prstGeom prst="ellips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3098042" y="2183642"/>
            <a:ext cx="1774209" cy="3685452"/>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p:txBody>
          <a:bodyPr/>
          <a:lstStyle/>
          <a:p>
            <a:endParaRPr lang="en-US" dirty="0"/>
          </a:p>
        </p:txBody>
      </p:sp>
      <p:pic>
        <p:nvPicPr>
          <p:cNvPr id="8" name="Picture 7"/>
          <p:cNvPicPr/>
          <p:nvPr/>
        </p:nvPicPr>
        <p:blipFill>
          <a:blip r:embed="rId2"/>
          <a:stretch>
            <a:fillRect/>
          </a:stretch>
        </p:blipFill>
        <p:spPr>
          <a:xfrm>
            <a:off x="1101186" y="1751871"/>
            <a:ext cx="10054494" cy="4117223"/>
          </a:xfrm>
          <a:prstGeom prst="rect">
            <a:avLst/>
          </a:prstGeom>
        </p:spPr>
      </p:pic>
      <p:sp>
        <p:nvSpPr>
          <p:cNvPr id="4" name="Rounded Rectangle 3"/>
          <p:cNvSpPr/>
          <p:nvPr/>
        </p:nvSpPr>
        <p:spPr>
          <a:xfrm>
            <a:off x="4776716" y="3261815"/>
            <a:ext cx="4080681" cy="928048"/>
          </a:xfrm>
          <a:prstGeom prst="round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0687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Change Request from Business</a:t>
            </a:r>
            <a:endParaRPr lang="en-US" dirty="0"/>
          </a:p>
        </p:txBody>
      </p:sp>
      <p:sp>
        <p:nvSpPr>
          <p:cNvPr id="3" name="Content Placeholder 2"/>
          <p:cNvSpPr>
            <a:spLocks noGrp="1"/>
          </p:cNvSpPr>
          <p:nvPr>
            <p:ph idx="1"/>
          </p:nvPr>
        </p:nvSpPr>
        <p:spPr/>
        <p:txBody>
          <a:bodyPr>
            <a:normAutofit/>
          </a:bodyPr>
          <a:lstStyle/>
          <a:p>
            <a:r>
              <a:rPr lang="en-US" i="1" dirty="0" smtClean="0"/>
              <a:t>“One </a:t>
            </a:r>
            <a:r>
              <a:rPr lang="en-US" i="1" dirty="0"/>
              <a:t>of the key business requirement from each Division is for specialty-wise brand prioritization by HCP specialty (with up to 10 products per specialty)</a:t>
            </a:r>
            <a:r>
              <a:rPr lang="en-US" b="1" i="1" dirty="0"/>
              <a:t>.</a:t>
            </a:r>
            <a:endParaRPr lang="en-US" i="1" dirty="0"/>
          </a:p>
          <a:p>
            <a:r>
              <a:rPr lang="en-US" i="1" dirty="0"/>
              <a:t> </a:t>
            </a:r>
            <a:r>
              <a:rPr lang="en-US" i="1" dirty="0" smtClean="0"/>
              <a:t>Thus</a:t>
            </a:r>
            <a:r>
              <a:rPr lang="en-US" i="1" dirty="0"/>
              <a:t>, If the</a:t>
            </a:r>
            <a:r>
              <a:rPr lang="en-US" b="1" i="1" dirty="0"/>
              <a:t> Brand feature module</a:t>
            </a:r>
            <a:r>
              <a:rPr lang="en-US" i="1" dirty="0"/>
              <a:t> can be enhanced to function at an HCP level within each division, we can lock in</a:t>
            </a:r>
            <a:r>
              <a:rPr lang="en-US" b="1" i="1" dirty="0"/>
              <a:t> </a:t>
            </a:r>
            <a:r>
              <a:rPr lang="en-US" i="1" dirty="0"/>
              <a:t>HO-driven priority brands</a:t>
            </a:r>
            <a:r>
              <a:rPr lang="en-US" b="1" i="1" dirty="0"/>
              <a:t> </a:t>
            </a:r>
            <a:r>
              <a:rPr lang="en-US" i="1" dirty="0"/>
              <a:t>as Feature Products, while still allowing the MR to</a:t>
            </a:r>
            <a:r>
              <a:rPr lang="en-US" b="1" i="1" dirty="0"/>
              <a:t> </a:t>
            </a:r>
            <a:r>
              <a:rPr lang="en-US" i="1" dirty="0"/>
              <a:t>customize their P1 to P4 brands based on individual HCP preferences</a:t>
            </a:r>
            <a:r>
              <a:rPr lang="en-US" b="1" i="1" dirty="0"/>
              <a:t>.</a:t>
            </a:r>
            <a:endParaRPr lang="en-US" i="1" dirty="0"/>
          </a:p>
          <a:p>
            <a:r>
              <a:rPr lang="en-US" i="1" dirty="0"/>
              <a:t> </a:t>
            </a:r>
            <a:r>
              <a:rPr lang="en-US" i="1" dirty="0" smtClean="0"/>
              <a:t>Since</a:t>
            </a:r>
            <a:r>
              <a:rPr lang="en-US" i="1" dirty="0"/>
              <a:t>, the RCPA module already supports Feature and Priority brands, thus this would be the most cost-effective and seamless way to address the business requirement while retaining existing functionality within Superman CRM.</a:t>
            </a:r>
          </a:p>
          <a:p>
            <a:r>
              <a:rPr lang="en-US" i="1" dirty="0"/>
              <a:t> </a:t>
            </a:r>
            <a:r>
              <a:rPr lang="en-US" i="1" dirty="0" smtClean="0"/>
              <a:t>Request </a:t>
            </a:r>
            <a:r>
              <a:rPr lang="en-US" i="1" dirty="0"/>
              <a:t>you to kindly evaluate the feasibility of this enhancement</a:t>
            </a:r>
            <a:r>
              <a:rPr lang="en-US" i="1" dirty="0" smtClean="0"/>
              <a:t>.”</a:t>
            </a:r>
            <a:endParaRPr lang="en-US" i="1" dirty="0"/>
          </a:p>
          <a:p>
            <a:endParaRPr lang="en-US" b="1" dirty="0"/>
          </a:p>
        </p:txBody>
      </p:sp>
    </p:spTree>
    <p:extLst>
      <p:ext uri="{BB962C8B-B14F-4D97-AF65-F5344CB8AC3E}">
        <p14:creationId xmlns:p14="http://schemas.microsoft.com/office/powerpoint/2010/main" val="277225194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Recommended Behaviour</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Current System Behavior:</a:t>
            </a:r>
            <a:endParaRPr lang="en-US" dirty="0"/>
          </a:p>
          <a:p>
            <a:pPr lvl="0"/>
            <a:r>
              <a:rPr lang="en-US" b="1" dirty="0"/>
              <a:t>WSFA:</a:t>
            </a:r>
            <a:r>
              <a:rPr lang="en-US" dirty="0"/>
              <a:t> This Supports configuring Product Priority mapping at all three levels—SKU, Sub-brand, and Brand.</a:t>
            </a:r>
          </a:p>
          <a:p>
            <a:pPr lvl="0"/>
            <a:r>
              <a:rPr lang="en-US" b="1" dirty="0"/>
              <a:t>CMS:</a:t>
            </a:r>
            <a:r>
              <a:rPr lang="en-US" dirty="0"/>
              <a:t> Supports slide-mapping configuration at Specialty and State levels. Also allows configuration for mapping featured Products (SKUs) with specific durations.</a:t>
            </a:r>
          </a:p>
          <a:p>
            <a:pPr lvl="0"/>
            <a:r>
              <a:rPr lang="en-US" b="1" dirty="0"/>
              <a:t>Superman:</a:t>
            </a:r>
            <a:r>
              <a:rPr lang="en-US" dirty="0"/>
              <a:t> Currently displays slides at the Division level only.</a:t>
            </a:r>
          </a:p>
          <a:p>
            <a:r>
              <a:rPr lang="en-US" b="1" dirty="0"/>
              <a:t>Recommended Behavior:</a:t>
            </a:r>
            <a:endParaRPr lang="en-US" dirty="0"/>
          </a:p>
          <a:p>
            <a:pPr lvl="0"/>
            <a:r>
              <a:rPr lang="en-US" b="1" dirty="0"/>
              <a:t>Superman:</a:t>
            </a:r>
            <a:r>
              <a:rPr lang="en-US" dirty="0"/>
              <a:t> Should be able to support displaying slides at the Specialty level as well.</a:t>
            </a:r>
          </a:p>
          <a:p>
            <a:r>
              <a:rPr lang="en-US" b="1" dirty="0"/>
              <a:t>Impacts:</a:t>
            </a:r>
            <a:endParaRPr lang="en-US" dirty="0"/>
          </a:p>
          <a:p>
            <a:pPr lvl="0"/>
            <a:r>
              <a:rPr lang="en-US" dirty="0"/>
              <a:t>The system will identify a doctor's specialty and dynamically display Product (SKU) slides based on the Specialty-level mappings configured within the CMS module.</a:t>
            </a:r>
          </a:p>
          <a:p>
            <a:endParaRPr lang="en-US" dirty="0"/>
          </a:p>
        </p:txBody>
      </p:sp>
    </p:spTree>
    <p:extLst>
      <p:ext uri="{BB962C8B-B14F-4D97-AF65-F5344CB8AC3E}">
        <p14:creationId xmlns:p14="http://schemas.microsoft.com/office/powerpoint/2010/main" val="36938519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0" y="3000764"/>
            <a:ext cx="10058400" cy="1057889"/>
          </a:xfrm>
        </p:spPr>
        <p:txBody>
          <a:bodyPr>
            <a:normAutofit/>
          </a:bodyPr>
          <a:lstStyle/>
          <a:p>
            <a:pPr algn="ctr"/>
            <a:r>
              <a:rPr lang="en-IN" sz="6800" dirty="0" smtClean="0"/>
              <a:t>Thank You</a:t>
            </a:r>
            <a:endParaRPr lang="en-US" sz="6800" dirty="0"/>
          </a:p>
        </p:txBody>
      </p:sp>
    </p:spTree>
    <p:extLst>
      <p:ext uri="{BB962C8B-B14F-4D97-AF65-F5344CB8AC3E}">
        <p14:creationId xmlns:p14="http://schemas.microsoft.com/office/powerpoint/2010/main" val="3860739463"/>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Override1.xml><?xml version="1.0" encoding="utf-8"?>
<a:themeOverride xmlns:a="http://schemas.openxmlformats.org/drawingml/2006/main">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themeOverride>
</file>

<file path=docProps/app.xml><?xml version="1.0" encoding="utf-8"?>
<Properties xmlns="http://schemas.openxmlformats.org/officeDocument/2006/extended-properties" xmlns:vt="http://schemas.openxmlformats.org/officeDocument/2006/docPropsVTypes">
  <Template/>
  <TotalTime>4373</TotalTime>
  <Words>471</Words>
  <Application>Microsoft Office PowerPoint</Application>
  <PresentationFormat>Widescreen</PresentationFormat>
  <Paragraphs>48</Paragraphs>
  <Slides>21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Calibri</vt:lpstr>
      <vt:lpstr>Calibri Light</vt:lpstr>
      <vt:lpstr>Retrospect</vt:lpstr>
      <vt:lpstr>Division wise Priority product mapping configuration:  Available in WFSA </vt:lpstr>
      <vt:lpstr>SKU wise configuration(3D-Mankind, Activus)</vt:lpstr>
      <vt:lpstr>Sub Brand wise configuration(Templar, Ocularis, Gravitas)</vt:lpstr>
      <vt:lpstr>Brand wise configuration(Rest all Pharma Divisions)</vt:lpstr>
      <vt:lpstr>RCPA based upon SKU(3D-Mankind) </vt:lpstr>
      <vt:lpstr>  E-Detailing based upon SKU(3D-Mankind)  </vt:lpstr>
      <vt:lpstr>RCPA based upon Sub-brand(Gravitas) </vt:lpstr>
      <vt:lpstr> E-Detailing based upon Sub-brand(Gravitas)  </vt:lpstr>
      <vt:lpstr>RCPA based upon Brand(Mankind) </vt:lpstr>
      <vt:lpstr>  E-Detailing based upon Brand (Mankind)  </vt:lpstr>
      <vt:lpstr>E-Detailing Slide configuration   in CMS Module(WSFA)</vt:lpstr>
      <vt:lpstr>CMS Portal Workflow Steps</vt:lpstr>
      <vt:lpstr>Step#1</vt:lpstr>
      <vt:lpstr>Step#2</vt:lpstr>
      <vt:lpstr>Step#3</vt:lpstr>
      <vt:lpstr>Step#4</vt:lpstr>
      <vt:lpstr>Step#5</vt:lpstr>
      <vt:lpstr>Step#6</vt:lpstr>
      <vt:lpstr>Change Request from Business</vt:lpstr>
      <vt:lpstr>Recommended Behaviour</vt:lpstr>
      <vt:lpstr>PowerPoint Presentation</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Siddhartha Tomar /Digital Transformation/HO</dc:creator>
  <cp:lastModifiedBy>Siddhartha Tomar /Digital Transformation/HO</cp:lastModifiedBy>
  <cp:revision>49</cp:revision>
  <dcterms:created xsi:type="dcterms:W3CDTF">2025-06-27T05:16:08Z</dcterms:created>
  <dcterms:modified xsi:type="dcterms:W3CDTF">2025-06-30T06:09:43Z</dcterms:modified>
</cp:coreProperties>
</file>